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063240"/>
            <a:ext cx="1005840" cy="640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MULTIPLES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32461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밸류에이션과 핵심 재무 멀티플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적정주가는 어떻게 계산되는가 — 멀티플, DCF, 그리고 EPS·PER·PBR·PSR·EV·EBITDA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밸류에이션 개념 정리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0"/>
            <a:ext cx="1005840" cy="640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9260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밸류에이션, 멀티플, 적정주가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가치를 추정하는 두 가지 접근법과 대표 지표들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밸류에이션(Valuation)이란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“적정 가치”를 추정하는 과정. 현재 시장가격이 그 가치보다 높은지 낮은지를 판단해 투자 의사결정을 내리는 데 활용됩니다.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절대가치평가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37360" y="2907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자체의 현금흐름, 자산가치 등을 바탕으로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독립적으로</a:t>
            </a:r>
            <a:pPr indent="0" marL="0">
              <a:buNone/>
            </a:pPr>
            <a:r>
              <a:rPr lang="en-US" sz="16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가치를 산출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5120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방법: DCF(현금흐름할인법), DDM(배당할인모형), NAV(자산가치법)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BF6E6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46888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C7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6092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상대가치평가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360920" y="2907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Valuation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가능한 다른 기업들과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pPr indent="0" marL="0">
              <a:buNone/>
            </a:pPr>
            <a:r>
              <a:rPr lang="en-US" sz="16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 상대적으로 가치를 산출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5120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방법: PER, PBR, PSR, EV/EBITDA 등 멀티플(배수) 비교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대표적인 멀티플(배수) 종류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멀티플 = 기업가치를 특정 재무지표로 나눈 배수 — “이 회사가 벌어들이는 돈(또는 자산·매출)의 몇 배로 거래되는가”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12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주가수익비율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898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90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÷ EPS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410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 기반, 가장 널리 사용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2920" y="1965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1520" y="2112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1520" y="2532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주가순자산비율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41520" y="2898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4541520" y="2990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÷ BPS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41520" y="3410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기반, 금융·제조업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77200" y="1965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112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5800" y="2532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주가매출비율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05800" y="2898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8305800" y="2990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시가총액 ÷ 매출액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5800" y="3410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적자·성장기업 평가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98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4818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 대비 현금창출력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184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76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÷ EBITDA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696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자본구조 영향 최소화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12920" y="4251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1520" y="4398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EV/Sales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41520" y="4818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 대비 매출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41520" y="5184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4541520" y="5276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÷ 매출액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41520" y="5696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성장·플랫폼 기업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77200" y="4251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05800" y="4398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305800" y="4818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성장성 대비 PER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05800" y="5184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8305800" y="5276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÷ 이익성장률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05800" y="5696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대비 밸류에이션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— 주가수익비율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 대비 주가가 얼마나 비싼가를 측정하는 가장 대표적인 지표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= 주가 ÷ 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시가총액 ÷ 순이익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78308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8745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포인트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89320" y="21945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10배 = “현재 이익 수준이 유지된다면 투자원금 회수에 이론상 10년”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업종별 정상 수준이 다름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63931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성장주(IT·바이오): 높은 PER이 정당화되는 경우가 많음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078224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성숙 산업(전통 제조업·유틸리티): 낮은 PER이 일반적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451713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1/PER = 이익수익률(Earnings Yield) → 채권 금리와 비교 활용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PEG로 성장성까지 반영한 비교 예시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657600"/>
          <a:ext cx="5303520" cy="16002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A기업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B기업(경쟁사)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이익성장률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단순 PER은 A기업이 더 비싸 보이지만, 성장률까지 반영하면 오히려 A기업이 저평가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EV(기업가치) — 왜 시가총액만으론 부족한가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EV는 주주 몫(시가총액)뿐 아니라 채권자 몫(부채)까지 포함한, “기업 전체를 인수하는 데 드는 실질 비용”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591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시가총액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797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5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3591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총차입금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0" y="27797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5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6656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3591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현금성자산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0" y="27797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5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0" y="3712464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BF6E6"/>
          </a:solidFill>
          <a:ln w="19050">
            <a:solidFill>
              <a:srgbClr val="9C7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71246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(기업가치)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EV를 쓰는 이유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088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부채비율이 다른 기업들을 비교할 때, PER보다 EV/EBITDA가 더 공정한 비교 기준이 됨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5495544"/>
            <a:ext cx="1088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시가총액이 같아도 부채 규모가 다르면 실질적인 기업 규모·위험도가 전혀 다름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적정주가(Fair Value) 산출 방법 4가지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8191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920240" y="163677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상대가치평가법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920240" y="202082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Multiple-based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8775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적정주가 = 목표 멀티플 × 재무지표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PER 15배 × EPS 5,000원 = 75,000원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9380" y="158191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C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566660" y="163677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66660" y="202082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현금흐름할인법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69380" y="246888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69380" y="258775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Σ[FCF/(1+r)ⁿ] + 영구가치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69380" y="306324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현금흐름을 현재가치로 환산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593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920240" y="401421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DDM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920240" y="439826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배당할인모형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6519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차기배당 ÷ (요구수익률−성장률)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고든성장모형, 배당 안정적 기업에 적합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5060" y="379476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9380" y="39593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C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566660" y="401421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566660" y="439826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자산가치법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69380" y="484632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69380" y="496519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시가평가액 − 부채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69380" y="544068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지주회사·부동산·금융회사에 적합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애널리스트의 실전 적용 프로세스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가지 방법만 쓰지 않고 여러 방법을 교차 검증합니다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333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333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산출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 적정가치 계산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31318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2044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797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797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동종업계 비교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/ EV-EBITDA 밴드 확인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52160" y="31318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5508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8261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261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히스토리 비교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PER·PBR 밴드와 대조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0" y="31318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8972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BF6E6"/>
          </a:solidFill>
          <a:ln w="19050">
            <a:solidFill>
              <a:srgbClr val="9C7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1725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C7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1725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2688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목표주가 제시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종합하여 Target Price 확정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983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밸류에이션과 시장가격의 괴리가 발생하는 이유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48640" y="537667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시장은 미래 성장 기대(내러티브)를 선반영하는 경우가 많음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57424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금리 수준에 따라 “적정 멀티플” 자체가 시기별로 달라짐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610819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지배구조·유동성·배당정책 등 정성적 요인 반영 (예: 코리아 디스카운트)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0"/>
            <a:ext cx="1005840" cy="640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· PER · PBR · PSR · EV · EBITDA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예시로 이해하는 핵심 밸류에이션 지표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— 주당순이익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벌어들인 순이익을 발행주식수로 나눈 값. “주식 1주당 얼마의 이익을 냈는가”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= 당기순이익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발행주식수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당기순이익: 1,000억 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발행주식수: 2,000만 주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1,000억 원 ÷ 2,000만 주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5,000원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회사 주식 1주는 5,000원어치의 순이익을 창출했다는 의미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주의할 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513892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희석EPS: 전환사채·스톡옵션이 모두 전환됐다고 가정 — 기본EPS보다 항상 같거나 낮음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자사주 매입·소각: 발행주식수 감소로 순이익 변화 없이도 EPS 상승 가능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— 주가수익비율 (예시)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주가가 EPS의 몇 배인지 나타내는 비율. 이익 대비 주가의 비싼 정도를 측정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= 주가 ÷ EPS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주가: 100,000원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EPS: 5,000원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= 100,000원 ÷ 5,000원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“현재 이익이 유지된다면 원금 회수에 이론상 20년” 또는 “이익의 20배 가치를 시장이 인정”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동종업계 비교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513892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B기업(경쟁사) PER 12배 → A기업(20배)보다 상대적으로 저평가돼 보임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단, A기업 이익성장률이 훨씬 높다면 높은 PER이 정당화될 수 있음 (PEG로 보완)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— 주가순자산비율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주가가 주당순자산(장부가치)의 몇 배인지 나타내는 비율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= 주가 ÷ BPS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시가총액 ÷ 순자산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자본총계(순자산): 8,000억 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발행주식수: 2,000만 주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= 8,000억 원 ÷ 2,000만 주 = 40,000원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 = 100,000원 ÷ 40,000원 = 2.5배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시장이 이 회사의 장부상 순자산가치보다 2.5배 높게 평가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1배 미만의 의미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513892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이론상 “청산해서 자산을 나눠 갖는 게 현재 주가로 사는 것보다 유리” — 저평가 신호로 해석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한국 은행주·지주회사는 PBR 0.3~0.5배 수준도 흔함 (“코리아 디스카운트” 사례)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 — 주가매출비율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시가총액을 매출액으로 나눈 값. 이익이 없거나 적자인 성장기업 평가에 활용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 = 시가총액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매출액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C기업(적자 스타트업) 시가총액: 1조 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연매출: 2,000억 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= 1조 원 ÷ 2,000억 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PER은 순이익이 마이너스면 계산이 무의미하지만, PSR은 매출만 있으면 계산 가능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활용과 한계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513892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활용: 쿠팡·테슬라 초기처럼 적자였지만 매출 성장이 빠른 기업, SaaS 기업 평가에 널리 사용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한계: 수익성(마진)을 반영하지 못해, 매출은 크지만 마진이 낮은 기업도 낮은 PSR로 착시 가능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&amp; EBITDA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EV와 EBITDA — 숫자로 보는 계산 예시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(기업가치)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전체를 인수한다고 가정할 때 실질적으로 지불해야 하는 총 가치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4800600" cy="2011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D기업 예시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시가총액   5,000억 원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(+) 총차입금  2,000억 원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(−) 현금      500억 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4800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= 6,500억 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1389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주식을 전부 사는 비용 + 부채 부담 − 인수 후 즉시 회수 가능한 현금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002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EBITDA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37960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이자·세금·감가상각 전 영업이익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“현금창출능력”에 가깝게 근사한 지표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37960" y="2944368"/>
            <a:ext cx="4800600" cy="2011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E기업 예시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33832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영업이익      800억 원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(+) 감가상각비   200억 원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37960" y="4434840"/>
            <a:ext cx="4800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9C7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43484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EBITDA = 1,000억 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51389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감가상각비는 실제 현금유출이 아니므로 다시 더해 “현금 기준 수익성”을 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 EBITDA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 vs PER — 부채 구조가 다른 두 기업 비교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F기업(무차입)과 G기업(차입금 많음)을 비교하면, 부채 구조의 영향이 어떻게 다르게 나타나는지 알 수 있습니다.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61188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F기업 (무차입)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G기업 (차입금 많음)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영업이익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이자비용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순이익 (세율 20% 가정)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시가총액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63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(부채 포함)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600억 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PER만 보면 G기업이 훨씬 비싸 보이지만, 이는 이자비용 때문에 순이익이 줄어든 영향일 뿐입니다.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EV/EBITDA로 보면 부채 구조 차이의 영향이 줄어들어, 두 기업의 “영업 자체의 밸류에이션 격차”가 더 조정되어 나타납니다.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요약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282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854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주당이익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6002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532120" y="160020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72821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06440" y="218541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 대비 주가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169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374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주당순자산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78892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532120" y="278892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91693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06440" y="337413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대비 주가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056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매출액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45628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397764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532120" y="397764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410565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06440" y="456285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대비 시총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943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+ EBITDA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" y="5751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 + 현금창출력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516636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5532120" y="516636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529437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06440" y="575157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부채구조 영향 제거 비교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2026-07-25T23:51:54Z</dcterms:created>
  <dcterms:modified xsi:type="dcterms:W3CDTF">2026-07-25T23:51:54Z</dcterms:modified>
</cp:coreProperties>
</file>